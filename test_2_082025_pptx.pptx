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Framework for Understanding Probability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Lecture Overview</a:t>
            </a:r>
          </a:p>
          <a:p>
            <a:pPr lvl="0"/>
            <a:r>
              <a:rPr/>
              <a:t>Discuss probability distributions: definition</a:t>
            </a:r>
          </a:p>
          <a:p>
            <a:pPr lvl="0"/>
            <a:r>
              <a:rPr/>
              <a:t>Distinguish </a:t>
            </a:r>
            <a:r>
              <a:rPr b="1"/>
              <a:t>PMF</a:t>
            </a:r>
            <a:r>
              <a:rPr/>
              <a:t> vs </a:t>
            </a:r>
            <a:r>
              <a:rPr b="1"/>
              <a:t>PDF</a:t>
            </a:r>
          </a:p>
          <a:p>
            <a:pPr lvl="0"/>
            <a:r>
              <a:rPr/>
              <a:t>Describe how distributions connect biological processes :</a:t>
            </a:r>
          </a:p>
          <a:p>
            <a:pPr lvl="1"/>
            <a:r>
              <a:rPr/>
              <a:t>description, uncertainty, prediction, design, and modeling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Distributions answer two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arenR"/>
            </a:pPr>
            <a:r>
              <a:rPr b="1"/>
              <a:t>What outcomes are likely?</a:t>
            </a:r>
            <a:br/>
          </a:p>
          <a:p>
            <a:pPr lvl="0" indent="-342900" marL="342900">
              <a:buAutoNum type="arabicParenR"/>
            </a:pPr>
            <a:r>
              <a:rPr b="1"/>
              <a:t>How variable are outcomes?</a:t>
            </a:r>
          </a:p>
          <a:p>
            <a:pPr lvl="0" indent="0" marL="0">
              <a:buNone/>
            </a:pPr>
            <a:r>
              <a:rPr/>
              <a:t>These two questions support core data analysis tasks:</a:t>
            </a:r>
          </a:p>
          <a:p>
            <a:pPr lvl="0"/>
            <a:r>
              <a:rPr/>
              <a:t>estimating parameters [means, proportions, rates</a:t>
            </a:r>
          </a:p>
          <a:p>
            <a:pPr lvl="0"/>
            <a:r>
              <a:rPr/>
              <a:t>quantifying uncertainty [standard errors, intervals]</a:t>
            </a:r>
          </a:p>
          <a:p>
            <a:pPr lvl="0"/>
            <a:r>
              <a:rPr/>
              <a:t>predicting new observations [risk, expected counts, expected times)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Probability Distributions: Definition</a:t>
            </a:r>
          </a:p>
          <a:p>
            <a:pPr lvl="0"/>
            <a:r>
              <a:rPr>
                <a:latin typeface="Courier"/>
              </a:rPr>
              <a:t>probability distributions</a:t>
            </a:r>
            <a:r>
              <a:rPr/>
              <a:t>: describe how probability is allocated across all possible values of a random variable</a:t>
            </a:r>
          </a:p>
          <a:p>
            <a:pPr lvl="0"/>
            <a:r>
              <a:rPr/>
              <a:t>probability distributions specify:</a:t>
            </a:r>
          </a:p>
          <a:p>
            <a:pPr lvl="1"/>
            <a:r>
              <a:rPr/>
              <a:t>set of values a random variable may take</a:t>
            </a:r>
          </a:p>
          <a:p>
            <a:pPr lvl="1"/>
            <a:r>
              <a:rPr/>
              <a:t>how likely each value [or range of values] is to occur</a:t>
            </a:r>
          </a:p>
          <a:p>
            <a:pPr lvl="1"/>
            <a:r>
              <a:rPr/>
              <a:t>long-run behavior of outcomes generated by an underlying process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Distributions: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useful way to interpret probability distributions in biomedical data is:</a:t>
            </a:r>
          </a:p>
          <a:p>
            <a:pPr lvl="0" indent="0" marL="1270000">
              <a:buNone/>
            </a:pPr>
            <a:r>
              <a:rPr sz="2000"/>
              <a:t>A probability distribution describes how a biological process produces values, and how those values vary over repeated observation</a:t>
            </a:r>
          </a:p>
          <a:p>
            <a:pPr lvl="0" indent="0" marL="0">
              <a:buNone/>
            </a:pPr>
            <a:r>
              <a:rPr/>
              <a:t>Under this framework, a probability distribution encodes three defining elements of a data-generating process:</a:t>
            </a:r>
          </a:p>
          <a:p>
            <a:pPr lvl="0"/>
            <a:r>
              <a:rPr b="1"/>
              <a:t>Outcome type</a:t>
            </a:r>
            <a:r>
              <a:rPr/>
              <a:t>: binary, count, continuous measurement, waiting time</a:t>
            </a:r>
          </a:p>
          <a:p>
            <a:pPr lvl="0"/>
            <a:r>
              <a:rPr b="1"/>
              <a:t>Typical level</a:t>
            </a:r>
            <a:r>
              <a:rPr/>
              <a:t>: expected value [mean, proportion, rate]</a:t>
            </a:r>
          </a:p>
          <a:p>
            <a:pPr lvl="0"/>
            <a:r>
              <a:rPr b="1"/>
              <a:t>Variability structure</a:t>
            </a:r>
            <a:r>
              <a:rPr/>
              <a:t>: how spread behaves [and how it changes]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Distributions and Data Analysis</a:t>
            </a:r>
          </a:p>
          <a:p>
            <a:pPr lvl="0" indent="0" marL="0">
              <a:buNone/>
            </a:pPr>
            <a:r>
              <a:rPr/>
              <a:t>Distributions are tools for:</a:t>
            </a:r>
          </a:p>
          <a:p>
            <a:pPr lvl="0"/>
            <a:r>
              <a:rPr b="1"/>
              <a:t>describing heterogeneity</a:t>
            </a:r>
            <a:r>
              <a:rPr/>
              <a:t>: summarize population variability and tail behavior</a:t>
            </a:r>
          </a:p>
          <a:p>
            <a:pPr lvl="0"/>
            <a:r>
              <a:rPr b="1"/>
              <a:t>study design</a:t>
            </a:r>
            <a:r>
              <a:rPr/>
              <a:t>: plan sample size, power, event accrual, follow-up duration</a:t>
            </a:r>
          </a:p>
          <a:p>
            <a:pPr lvl="0"/>
            <a:r>
              <a:rPr b="1"/>
              <a:t>quality control</a:t>
            </a:r>
            <a:r>
              <a:rPr/>
              <a:t>: flag unusual counts/measurements relative to expectation</a:t>
            </a:r>
          </a:p>
          <a:p>
            <a:pPr lvl="0"/>
            <a:r>
              <a:rPr b="1"/>
              <a:t>risk communication</a:t>
            </a:r>
            <a:r>
              <a:rPr/>
              <a:t>: convert rates/means into interpretable probabilities</a:t>
            </a:r>
          </a:p>
          <a:p>
            <a:pPr lvl="0"/>
            <a:r>
              <a:rPr b="1"/>
              <a:t>simulation</a:t>
            </a:r>
            <a:r>
              <a:rPr/>
              <a:t>: stress-test pipelines, evaluate decision rules, teach intuition</a:t>
            </a:r>
          </a:p>
          <a:p>
            <a:pPr lvl="0"/>
            <a:r>
              <a:rPr b="1"/>
              <a:t>modeling</a:t>
            </a:r>
            <a:r>
              <a:rPr/>
              <a:t>: choose likelihoods, link functions, and appropriate estimands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Distribution and statistical models: 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statistical model</a:t>
            </a:r>
            <a:r>
              <a:rPr/>
              <a:t> is a probability statement about data:</a:t>
            </a:r>
          </a:p>
          <a:p>
            <a:pPr lvl="0"/>
            <a:r>
              <a:rPr/>
              <a:t>a </a:t>
            </a:r>
            <a:r>
              <a:rPr b="1"/>
              <a:t>distributional assumption</a:t>
            </a:r>
            <a:r>
              <a:rPr/>
              <a:t> plus </a:t>
            </a:r>
            <a:r>
              <a:rPr b="1"/>
              <a:t>parameters</a:t>
            </a:r>
          </a:p>
          <a:p>
            <a:pPr lvl="0"/>
            <a:r>
              <a:rPr/>
              <a:t>a probability model for the outcome</a:t>
            </a:r>
          </a:p>
          <a:p>
            <a:pPr lvl="0" indent="0" marL="0">
              <a:buNone/>
            </a:pPr>
            <a:r>
              <a:rPr/>
              <a:t>Models specify a probability distribution for an outcome, which encodes:</a:t>
            </a:r>
          </a:p>
          <a:p>
            <a:pPr lvl="0"/>
            <a:r>
              <a:rPr/>
              <a:t>expected outcome behavior (mean)</a:t>
            </a:r>
          </a:p>
          <a:p>
            <a:pPr lvl="0"/>
            <a:r>
              <a:rPr/>
              <a:t>uncertainty around outcomes (variance)</a:t>
            </a:r>
          </a:p>
          <a:p>
            <a:pPr lvl="0"/>
            <a:r>
              <a:rPr/>
              <a:t>how uncertainty changes across conditions</a:t>
            </a:r>
          </a:p>
          <a:p>
            <a:pPr lvl="0"/>
            <a:r>
              <a:rPr/>
              <a:t>how likely outcomes are under the model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linear regression → assumes normally distributed errors</a:t>
            </a:r>
          </a:p>
          <a:p>
            <a:pPr lvl="0"/>
            <a:r>
              <a:rPr/>
              <a:t>logistic regression → assumes Bernoulli outcomes</a:t>
            </a:r>
          </a:p>
          <a:p>
            <a:pPr lvl="0"/>
            <a:r>
              <a:rPr/>
              <a:t>Poisson regression → assumes Poisson counts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Mean–variance relationships: why distribution choice matters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distribution encodes how variability behaves relative to the mean</a:t>
                </a:r>
              </a:p>
              <a:p>
                <a:pPr lvl="0"/>
                <a:r>
                  <a:rPr/>
                  <a:t>distirbutions are described with respect to mean and variance because they describe the expected signal [outcome] and its uncertainty</a:t>
                </a:r>
              </a:p>
              <a:p>
                <a:pPr lvl="0" indent="0" marL="0">
                  <a:buNone/>
                </a:pPr>
                <a:r>
                  <a:rPr/>
                  <a:t>Example distributions:</a:t>
                </a:r>
              </a:p>
              <a:p>
                <a:pPr lvl="0"/>
                <a:r>
                  <a:rPr b="1"/>
                  <a:t>Normal</a:t>
                </a:r>
                <a:r>
                  <a:rPr/>
                  <a:t> → variance is constant (does not depend on the mean)</a:t>
                </a:r>
              </a:p>
              <a:p>
                <a:pPr lvl="0"/>
                <a:r>
                  <a:rPr b="1"/>
                  <a:t>Poisson</a:t>
                </a:r>
                <a:r>
                  <a:rPr/>
                  <a:t> → variance equals the mean</a:t>
                </a:r>
              </a:p>
              <a:p>
                <a:pPr lvl="0"/>
                <a:r>
                  <a:rPr b="1"/>
                  <a:t>Binomial</a:t>
                </a:r>
                <a:r>
                  <a:rPr/>
                  <a:t> → variance depends on both $n and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is a practical diagnostic:</a:t>
                </a:r>
              </a:p>
              <a:p>
                <a:pPr lvl="0"/>
                <a:r>
                  <a:rPr/>
                  <a:t>if the observed spread changes with the mean, constant-variance models misfit</a:t>
                </a:r>
              </a:p>
              <a:p>
                <a:pPr lvl="0"/>
                <a:r>
                  <a:rPr/>
                  <a:t>distribution choice affects standard errors, intervals, and conclusions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Outcome structure organizes distributions</a:t>
            </a:r>
          </a:p>
          <a:p>
            <a:pPr lvl="0" indent="0" marL="0">
              <a:buNone/>
            </a:pPr>
            <a:r>
              <a:rPr/>
              <a:t>A fast way to choose a distribution starts with: </a:t>
            </a:r>
            <a:r>
              <a:rPr i="1"/>
              <a:t>What does the outcome look like?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function: PMF vs 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probability distribution assigns probability across all possible values of a random variable</a:t>
            </a:r>
          </a:p>
          <a:p>
            <a:pPr lvl="0" indent="0" marL="0">
              <a:buNone/>
            </a:pPr>
            <a:r>
              <a:rPr/>
              <a:t>That assignment occurs through a probability function:</a:t>
            </a:r>
          </a:p>
          <a:p>
            <a:pPr lvl="0"/>
            <a:r>
              <a:rPr b="1"/>
              <a:t>Discrete random variables</a:t>
            </a:r>
            <a:r>
              <a:rPr/>
              <a:t> → </a:t>
            </a:r>
            <a:r>
              <a:rPr b="1"/>
              <a:t>Probability Mass Function (PMF)</a:t>
            </a:r>
          </a:p>
          <a:p>
            <a:pPr lvl="0"/>
            <a:r>
              <a:rPr b="1"/>
              <a:t>Continuous random variables</a:t>
            </a:r>
            <a:r>
              <a:rPr/>
              <a:t> → </a:t>
            </a:r>
            <a:r>
              <a:rPr b="1"/>
              <a:t>Probability Density Function (PDF)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PMF: definition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Probability Mass Function (PMF)</a:t>
                </a:r>
                <a:r>
                  <a:rPr/>
                  <a:t> assigns probability directly to each discrete outcome: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y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Key properties:</a:t>
                </a:r>
              </a:p>
              <a:p>
                <a:pPr lvl="0"/>
                <a:r>
                  <a:rPr/>
                  <a:t>(p(y) )</a:t>
                </a:r>
              </a:p>
              <a:p>
                <a:pPr lvl="0"/>
                <a:r>
                  <a:rPr/>
                  <a:t>probabilities sum to 1: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y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p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/>
                <a:r>
                  <a:rPr/>
                  <a:t>the PMF shows how probability mass is distributed across discrete states</a:t>
                </a:r>
              </a:p>
              <a:p>
                <a:pPr lvl="0" indent="0" marL="0">
                  <a:buNone/>
                </a:pPr>
                <a:r>
                  <a:rPr/>
                  <a:t>Biomedical examples:</a:t>
                </a:r>
              </a:p>
              <a:p>
                <a:pPr lvl="0"/>
                <a:r>
                  <a:rPr/>
                  <a:t>mutation present/absent</a:t>
                </a:r>
              </a:p>
              <a:p>
                <a:pPr lvl="0"/>
                <a:r>
                  <a:rPr/>
                  <a:t>treatment response category</a:t>
                </a:r>
              </a:p>
              <a:p>
                <a:pPr lvl="0"/>
                <a:r>
                  <a:rPr/>
                  <a:t>number of adverse events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PDF: definition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Probability Density Function (PDF)</a:t>
                </a:r>
                <a:r>
                  <a:rPr/>
                  <a:t> describes probability for continuous outcomes.</a:t>
                </a:r>
              </a:p>
              <a:p>
                <a:pPr lvl="0" indent="0" marL="0">
                  <a:buNone/>
                </a:pPr>
                <a:r>
                  <a:rPr/>
                  <a:t>Individual values have probability 0, so probabilities are defined over intervals: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a</m:t>
                          </m:r>
                        </m:sub>
                        <m:sup>
                          <m:r>
                            <m:t>b</m:t>
                          </m:r>
                        </m:sup>
                        <m:e>
                          <m:r>
                            <m:t>f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y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Key properties:</a:t>
                </a:r>
              </a:p>
              <a:p>
                <a:pPr lvl="0"/>
                <a:r>
                  <a:rPr/>
                  <a:t>(f(y) )</a:t>
                </a:r>
              </a:p>
              <a:p>
                <a:pPr lvl="0"/>
                <a:r>
                  <a:rPr/>
                  <a:t>total area equals 1: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∞</m:t>
                          </m:r>
                        </m:sup>
                        <m:e>
                          <m:r>
                            <m:t>f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/>
                <a:r>
                  <a:rPr/>
                  <a:t>probability corresponds to </a:t>
                </a:r>
                <a:r>
                  <a:rPr b="1"/>
                  <a:t>area under the curve</a:t>
                </a:r>
                <a:r>
                  <a:rPr/>
                  <a:t> across a range</a:t>
                </a:r>
              </a:p>
              <a:p>
                <a:pPr lvl="0" indent="0" marL="0">
                  <a:buNone/>
                </a:pPr>
                <a:r>
                  <a:rPr/>
                  <a:t>Biomedical examples:</a:t>
                </a:r>
              </a:p>
              <a:p>
                <a:pPr lvl="0"/>
                <a:r>
                  <a:rPr/>
                  <a:t>biomarker concentration</a:t>
                </a:r>
              </a:p>
              <a:p>
                <a:pPr lvl="0"/>
                <a:r>
                  <a:rPr/>
                  <a:t>tumor size</a:t>
                </a:r>
              </a:p>
              <a:p>
                <a:pPr lvl="0"/>
                <a:r>
                  <a:rPr/>
                  <a:t>blood pressure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PMF/PDF versus specific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PMF/PDF</a:t>
            </a:r>
            <a:r>
              <a:rPr/>
              <a:t> describe the </a:t>
            </a:r>
            <a:r>
              <a:rPr i="1"/>
              <a:t>type of probability function</a:t>
            </a:r>
            <a:r>
              <a:rPr/>
              <a:t> (discrete vs continuous)</a:t>
            </a:r>
          </a:p>
          <a:p>
            <a:pPr lvl="0"/>
            <a:r>
              <a:rPr b="1"/>
              <a:t>Bernoulli/Binomial/Poisson/Normal/Exponential</a:t>
            </a:r>
            <a:r>
              <a:rPr/>
              <a:t> are </a:t>
            </a:r>
            <a:r>
              <a:rPr i="1"/>
              <a:t>specific distributions</a:t>
            </a:r>
            <a:r>
              <a:rPr/>
              <a:t> with specific formulas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How common distributions are connected</a:t>
                </a:r>
              </a:p>
              <a:p>
                <a:pPr lvl="0" indent="0" marL="0">
                  <a:buNone/>
                </a:pPr>
                <a:r>
                  <a:rPr/>
                  <a:t>Distributions form a connected system :</a:t>
                </a:r>
              </a:p>
              <a:p>
                <a:pPr lvl="0"/>
                <a:r>
                  <a:rPr b="1"/>
                  <a:t>Binomial is a sum of Bernoulli trials</a:t>
                </a:r>
                <a:br/>
                <a:r>
                  <a:rPr/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Bernoulli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 and independent,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Binomial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</a:p>
              <a:p>
                <a:pPr lvl="0"/>
                <a:r>
                  <a:rPr b="1"/>
                  <a:t>Poisson approximates Binomial for rare events</a:t>
                </a:r>
                <a:br/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large and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is small with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λ</m:t>
                    </m:r>
                  </m:oMath>
                </a14:m>
                <a:r>
                  <a:rPr/>
                  <a:t>, then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Binomial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rPr>
                        <m:nor/>
                        <m:sty m:val="p"/>
                      </m:rPr>
                      <m:t>Poisson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λ</m:t>
                        </m:r>
                      </m:e>
                    </m:d>
                  </m:oMath>
                </a14:m>
              </a:p>
              <a:p>
                <a:pPr lvl="0"/>
                <a:r>
                  <a:rPr b="1"/>
                  <a:t>Normal approximations</a:t>
                </a:r>
                <a:r>
                  <a:rPr/>
                  <a:t> : many distributions become approximately normal when aggregated</a:t>
                </a:r>
              </a:p>
              <a:p>
                <a:pPr lvl="0"/>
                <a:r>
                  <a:rPr b="1"/>
                  <a:t>Exponential is the waiting-time partner of the Poisson process</a:t>
                </a:r>
                <a:br/>
                <a:r>
                  <a:rPr/>
                  <a:t>If events occur as a Poisson process with rate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, the waiting time between events is exponential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/>
            <a:r>
              <a:rPr/>
              <a:t>distributions formalize biological variability as </a:t>
            </a:r>
            <a:r>
              <a:rPr b="1"/>
              <a:t>probability</a:t>
            </a:r>
          </a:p>
          <a:p>
            <a:pPr lvl="0"/>
            <a:r>
              <a:rPr/>
              <a:t>first decision is outcome structure: binary, counts, continuous, waiting time</a:t>
            </a:r>
          </a:p>
          <a:p>
            <a:pPr lvl="0"/>
            <a:r>
              <a:rPr/>
              <a:t>PMF vs PDF determines how probability is interpreted [sum vs area]</a:t>
            </a:r>
          </a:p>
          <a:p>
            <a:pPr lvl="0"/>
            <a:r>
              <a:rPr/>
              <a:t>distribution choice governs mean–variance behavior and uncertainty</a:t>
            </a:r>
          </a:p>
          <a:p>
            <a:pPr lvl="0"/>
            <a:r>
              <a:rPr/>
              <a:t>distributions support description, design, QC, communication, simulation, and modeling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 indent="0" marL="0">
              <a:buNone/>
            </a:pPr>
            <a:r>
              <a:rPr/>
              <a:t>Probability distributions connect biological processes to probability statements about data, enabling:</a:t>
            </a:r>
          </a:p>
          <a:p>
            <a:pPr lvl="0"/>
            <a:r>
              <a:rPr/>
              <a:t>interpretable estimates [means/proportions/rates</a:t>
            </a:r>
          </a:p>
          <a:p>
            <a:pPr lvl="0"/>
            <a:r>
              <a:rPr/>
              <a:t>valid uncertainty quantification</a:t>
            </a:r>
          </a:p>
          <a:p>
            <a:pPr lvl="0"/>
            <a:r>
              <a:rPr/>
              <a:t>principled prediction and design</a:t>
            </a:r>
          </a:p>
          <a:p>
            <a:pPr lvl="0" indent="0" marL="0">
              <a:buNone/>
            </a:pPr>
            <a:r>
              <a:rPr/>
              <a:t>Next Lecture: we apply this framework to </a:t>
            </a:r>
            <a:r>
              <a:rPr b="1"/>
              <a:t>discrete outcomes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Framework for Understanding Probability Distributions</dc:title>
  <dc:creator> Lesley Chapman Hannah, Ph.D., M.S. College of Graduate Studies Northeast Ohio Medical University</dc:creator>
  <cp:keywords/>
  <dcterms:created xsi:type="dcterms:W3CDTF">2026-03-01T21:34:21Z</dcterms:created>
  <dcterms:modified xsi:type="dcterms:W3CDTF">2026-03-01T21:34:21Z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